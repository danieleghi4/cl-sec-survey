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9f1e99a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9f1e99a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3707" y="348400"/>
            <a:ext cx="1071900" cy="291300"/>
          </a:xfrm>
          <a:prstGeom prst="roundRect">
            <a:avLst>
              <a:gd fmla="val 16667" name="adj"/>
            </a:avLst>
          </a:prstGeom>
          <a:solidFill>
            <a:srgbClr val="A5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lt1"/>
                </a:solidFill>
              </a:rPr>
              <a:t>Training/Test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0" y="727426"/>
            <a:ext cx="1071900" cy="72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Training Time</a:t>
            </a:r>
            <a:endParaRPr i="1" sz="1000"/>
          </a:p>
        </p:txBody>
      </p:sp>
      <p:sp>
        <p:nvSpPr>
          <p:cNvPr id="56" name="Google Shape;56;p13"/>
          <p:cNvSpPr/>
          <p:nvPr/>
        </p:nvSpPr>
        <p:spPr>
          <a:xfrm>
            <a:off x="0" y="1499550"/>
            <a:ext cx="1071900" cy="5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Test</a:t>
            </a:r>
            <a:r>
              <a:rPr i="1" lang="it" sz="1000"/>
              <a:t> Time</a:t>
            </a:r>
            <a:endParaRPr i="1" sz="1000"/>
          </a:p>
        </p:txBody>
      </p:sp>
      <p:sp>
        <p:nvSpPr>
          <p:cNvPr id="57" name="Google Shape;57;p13"/>
          <p:cNvSpPr/>
          <p:nvPr/>
        </p:nvSpPr>
        <p:spPr>
          <a:xfrm>
            <a:off x="1166294" y="-1"/>
            <a:ext cx="4228800" cy="291300"/>
          </a:xfrm>
          <a:prstGeom prst="roundRect">
            <a:avLst>
              <a:gd fmla="val 16667" name="adj"/>
            </a:avLst>
          </a:prstGeom>
          <a:solidFill>
            <a:srgbClr val="3C78D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lt1"/>
                </a:solidFill>
              </a:rPr>
              <a:t>Attacks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166294" y="348398"/>
            <a:ext cx="1439700" cy="291300"/>
          </a:xfrm>
          <a:prstGeom prst="roundRect">
            <a:avLst>
              <a:gd fmla="val 16667" name="adj"/>
            </a:avLst>
          </a:prstGeom>
          <a:solidFill>
            <a:srgbClr val="3C78D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lt1"/>
                </a:solidFill>
              </a:rPr>
              <a:t>Integrity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2667897" y="348398"/>
            <a:ext cx="1085700" cy="291300"/>
          </a:xfrm>
          <a:prstGeom prst="roundRect">
            <a:avLst>
              <a:gd fmla="val 16667" name="adj"/>
            </a:avLst>
          </a:prstGeom>
          <a:solidFill>
            <a:srgbClr val="3C78D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lt1"/>
                </a:solidFill>
              </a:rPr>
              <a:t>Availability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3817842" y="348398"/>
            <a:ext cx="1577100" cy="291300"/>
          </a:xfrm>
          <a:prstGeom prst="roundRect">
            <a:avLst>
              <a:gd fmla="val 16667" name="adj"/>
            </a:avLst>
          </a:prstGeom>
          <a:solidFill>
            <a:srgbClr val="3C78D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lt1"/>
                </a:solidFill>
              </a:rPr>
              <a:t>Privacy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5459198" y="-1"/>
            <a:ext cx="3147000" cy="291300"/>
          </a:xfrm>
          <a:prstGeom prst="roundRect">
            <a:avLst>
              <a:gd fmla="val 16667" name="adj"/>
            </a:avLst>
          </a:prstGeom>
          <a:solidFill>
            <a:srgbClr val="E27A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lt1"/>
                </a:solidFill>
              </a:rPr>
              <a:t>Defenses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5459198" y="348398"/>
            <a:ext cx="1174500" cy="291300"/>
          </a:xfrm>
          <a:prstGeom prst="roundRect">
            <a:avLst>
              <a:gd fmla="val 16667" name="adj"/>
            </a:avLst>
          </a:prstGeom>
          <a:solidFill>
            <a:srgbClr val="E27A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lt1"/>
                </a:solidFill>
              </a:rPr>
              <a:t>Data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6709150" y="348398"/>
            <a:ext cx="1909200" cy="291300"/>
          </a:xfrm>
          <a:prstGeom prst="roundRect">
            <a:avLst>
              <a:gd fmla="val 16667" name="adj"/>
            </a:avLst>
          </a:prstGeom>
          <a:solidFill>
            <a:srgbClr val="E27A2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lt1"/>
                </a:solidFill>
              </a:rPr>
              <a:t>Model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1154557" y="727425"/>
            <a:ext cx="1421400" cy="72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Persistent / Latent Backdoor,</a:t>
            </a:r>
            <a:endParaRPr i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Targeted Forgetting</a:t>
            </a:r>
            <a:endParaRPr i="1" sz="1000"/>
          </a:p>
        </p:txBody>
      </p:sp>
      <p:sp>
        <p:nvSpPr>
          <p:cNvPr id="65" name="Google Shape;65;p13"/>
          <p:cNvSpPr/>
          <p:nvPr/>
        </p:nvSpPr>
        <p:spPr>
          <a:xfrm>
            <a:off x="2663044" y="727427"/>
            <a:ext cx="1072200" cy="72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Indiscriminate Forgetting</a:t>
            </a:r>
            <a:endParaRPr i="1" sz="1000"/>
          </a:p>
        </p:txBody>
      </p:sp>
      <p:sp>
        <p:nvSpPr>
          <p:cNvPr id="66" name="Google Shape;66;p13"/>
          <p:cNvSpPr/>
          <p:nvPr/>
        </p:nvSpPr>
        <p:spPr>
          <a:xfrm>
            <a:off x="3816571" y="727427"/>
            <a:ext cx="1557600" cy="72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Privacy Leakage Poisoning (NA)</a:t>
            </a:r>
            <a:endParaRPr i="1" sz="1000"/>
          </a:p>
        </p:txBody>
      </p:sp>
      <p:sp>
        <p:nvSpPr>
          <p:cNvPr id="67" name="Google Shape;67;p13"/>
          <p:cNvSpPr/>
          <p:nvPr/>
        </p:nvSpPr>
        <p:spPr>
          <a:xfrm>
            <a:off x="1154523" y="1499550"/>
            <a:ext cx="1421400" cy="5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Evasion,</a:t>
            </a:r>
            <a:endParaRPr i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Persistent Transfer Attack</a:t>
            </a:r>
            <a:endParaRPr i="1" sz="1000"/>
          </a:p>
        </p:txBody>
      </p:sp>
      <p:sp>
        <p:nvSpPr>
          <p:cNvPr id="68" name="Google Shape;68;p13"/>
          <p:cNvSpPr/>
          <p:nvPr/>
        </p:nvSpPr>
        <p:spPr>
          <a:xfrm>
            <a:off x="2662996" y="1499556"/>
            <a:ext cx="1072200" cy="5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Persistent Sponge (NA)</a:t>
            </a:r>
            <a:endParaRPr i="1" sz="1000"/>
          </a:p>
        </p:txBody>
      </p:sp>
      <p:sp>
        <p:nvSpPr>
          <p:cNvPr id="69" name="Google Shape;69;p13"/>
          <p:cNvSpPr/>
          <p:nvPr/>
        </p:nvSpPr>
        <p:spPr>
          <a:xfrm>
            <a:off x="3816470" y="1499556"/>
            <a:ext cx="1557600" cy="5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Task Model Inversion</a:t>
            </a:r>
            <a:endParaRPr i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Task Model extraction</a:t>
            </a:r>
            <a:endParaRPr i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Membership inference</a:t>
            </a:r>
            <a:endParaRPr i="1" sz="1000"/>
          </a:p>
        </p:txBody>
      </p:sp>
      <p:sp>
        <p:nvSpPr>
          <p:cNvPr id="70" name="Google Shape;70;p13"/>
          <p:cNvSpPr/>
          <p:nvPr/>
        </p:nvSpPr>
        <p:spPr>
          <a:xfrm>
            <a:off x="5462577" y="727427"/>
            <a:ext cx="1159500" cy="72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Training Data Sanitization</a:t>
            </a:r>
            <a:endParaRPr i="1" sz="1000"/>
          </a:p>
        </p:txBody>
      </p:sp>
      <p:sp>
        <p:nvSpPr>
          <p:cNvPr id="71" name="Google Shape;71;p13"/>
          <p:cNvSpPr/>
          <p:nvPr/>
        </p:nvSpPr>
        <p:spPr>
          <a:xfrm>
            <a:off x="6721675" y="727427"/>
            <a:ext cx="1884600" cy="72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Model Inspection, </a:t>
            </a:r>
            <a:endParaRPr i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Model Sanitization,</a:t>
            </a:r>
            <a:endParaRPr i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Trigger Reconstruction,</a:t>
            </a:r>
            <a:endParaRPr i="1" sz="1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Continual Robust Training </a:t>
            </a:r>
            <a:endParaRPr i="1" sz="1000"/>
          </a:p>
        </p:txBody>
      </p:sp>
      <p:sp>
        <p:nvSpPr>
          <p:cNvPr id="72" name="Google Shape;72;p13"/>
          <p:cNvSpPr/>
          <p:nvPr/>
        </p:nvSpPr>
        <p:spPr>
          <a:xfrm>
            <a:off x="5462477" y="1499556"/>
            <a:ext cx="1159500" cy="5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>
                <a:solidFill>
                  <a:schemeClr val="dk1"/>
                </a:solidFill>
              </a:rPr>
              <a:t>Test</a:t>
            </a:r>
            <a:r>
              <a:rPr i="1" lang="it" sz="1000">
                <a:solidFill>
                  <a:schemeClr val="dk1"/>
                </a:solidFill>
              </a:rPr>
              <a:t> Data Sanitization</a:t>
            </a:r>
            <a:endParaRPr i="1" sz="1000"/>
          </a:p>
        </p:txBody>
      </p:sp>
      <p:sp>
        <p:nvSpPr>
          <p:cNvPr id="73" name="Google Shape;73;p13"/>
          <p:cNvSpPr/>
          <p:nvPr/>
        </p:nvSpPr>
        <p:spPr>
          <a:xfrm>
            <a:off x="6721475" y="1499555"/>
            <a:ext cx="1884600" cy="558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000"/>
              <a:t>-</a:t>
            </a:r>
            <a:endParaRPr i="1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